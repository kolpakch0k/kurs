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0BC1DF-B900-458F-826B-DC5BABEE5A77}">
  <a:tblStyle styleId="{740BC1DF-B900-458F-826B-DC5BABEE5A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334b1fca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f334b1fc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presentation-creation.ru/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presentation-creation.ru/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presentation-creation.ru/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2580027" y="1975371"/>
            <a:ext cx="768358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580027" y="3631133"/>
            <a:ext cx="768358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13647006" y="1690688"/>
            <a:ext cx="2482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presentation-creation.ru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355834" y="1954924"/>
            <a:ext cx="10443342" cy="4401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 rot="-5400000">
            <a:off x="13647006" y="1690688"/>
            <a:ext cx="2482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presentation-creation.ru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92911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2951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918972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 rot="-5400000">
            <a:off x="13647006" y="1690688"/>
            <a:ext cx="2482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presentation-creation.ru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2622311" y="1867663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2" type="body"/>
          </p:nvPr>
        </p:nvSpPr>
        <p:spPr>
          <a:xfrm>
            <a:off x="2622310" y="2557750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/>
          <p:nvPr/>
        </p:nvSpPr>
        <p:spPr>
          <a:xfrm>
            <a:off x="2129423" y="1965830"/>
            <a:ext cx="358815" cy="358815"/>
          </a:xfrm>
          <a:custGeom>
            <a:rect b="b" l="l" r="r" t="t"/>
            <a:pathLst>
              <a:path extrusionOk="0" h="2534920" w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>
            <p:ph idx="3" type="body"/>
          </p:nvPr>
        </p:nvSpPr>
        <p:spPr>
          <a:xfrm>
            <a:off x="2607521" y="3442938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4" type="body"/>
          </p:nvPr>
        </p:nvSpPr>
        <p:spPr>
          <a:xfrm>
            <a:off x="2607520" y="4133025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2129423" y="3541105"/>
            <a:ext cx="358815" cy="358815"/>
          </a:xfrm>
          <a:custGeom>
            <a:rect b="b" l="l" r="r" t="t"/>
            <a:pathLst>
              <a:path extrusionOk="0" h="2534920" w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5" type="body"/>
          </p:nvPr>
        </p:nvSpPr>
        <p:spPr>
          <a:xfrm>
            <a:off x="2599161" y="4958049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6" type="body"/>
          </p:nvPr>
        </p:nvSpPr>
        <p:spPr>
          <a:xfrm>
            <a:off x="2599160" y="5648136"/>
            <a:ext cx="7870785" cy="55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/>
          <p:nvPr/>
        </p:nvSpPr>
        <p:spPr>
          <a:xfrm>
            <a:off x="2129423" y="5116380"/>
            <a:ext cx="358815" cy="358815"/>
          </a:xfrm>
          <a:custGeom>
            <a:rect b="b" l="l" r="r" t="t"/>
            <a:pathLst>
              <a:path extrusionOk="0" h="2534920" w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1.png"/><Relationship Id="rId3" Type="http://schemas.openxmlformats.org/officeDocument/2006/relationships/hyperlink" Target="https://presentation-creation.ru/" TargetMode="External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758584" y="-1519762"/>
            <a:ext cx="757762" cy="75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 rot="-5400000">
            <a:off x="13647006" y="1690688"/>
            <a:ext cx="2482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presentation-creation.ru</a:t>
            </a:r>
            <a:endParaRPr sz="180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github.com/Kolpakch0k/kur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1667838" y="1975425"/>
            <a:ext cx="88563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ЧУПО «ВШП»</a:t>
            </a:r>
            <a:endParaRPr b="1" sz="2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КУРСОВОЙ ПРОЕКТ</a:t>
            </a:r>
            <a:endParaRPr b="1" sz="2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1634413" y="3631125"/>
            <a:ext cx="89232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700"/>
              <a:t>Создание базы данных для системы бронирования</a:t>
            </a:r>
            <a:endParaRPr sz="27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В</a:t>
            </a:r>
            <a:r>
              <a:rPr lang="en-US" sz="2000"/>
              <a:t>ыполнил: студент 3-го курса 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Гаев Константин Романович</a:t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5" name="Google Shape;105;p14" title="VSHP_COAT_OF_ARMS_RED_SHIELD_R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400" y="484050"/>
            <a:ext cx="2275226" cy="192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1022766" y="75539"/>
            <a:ext cx="10728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Актуальность темы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1355834" y="1954924"/>
            <a:ext cx="10443342" cy="4401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Динамичный рост индустрии 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Необходимость автоматизации процессов бронирования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Исключение «человеческого фактора»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Прозрачность финансовых операций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Предметная область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558400" y="1586100"/>
            <a:ext cx="8004000" cy="4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Номерной фонд — комнаты различных категорий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 Гости — клиенты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 Бронирования — запросы на проживание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 Платежи — финансовые транзакции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Статистика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818" y="2009379"/>
            <a:ext cx="3100086" cy="310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1082566" y="75539"/>
            <a:ext cx="10728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ER-диаграмма</a:t>
            </a:r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450" y="1139225"/>
            <a:ext cx="8516625" cy="54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Структура базы данных</a:t>
            </a:r>
            <a:endParaRPr/>
          </a:p>
        </p:txBody>
      </p:sp>
      <p:graphicFrame>
        <p:nvGraphicFramePr>
          <p:cNvPr id="130" name="Google Shape;130;p18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{740BC1DF-B900-458F-826B-DC5BABEE5A77}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D1D1F"/>
                          </a:solidFill>
                        </a:rPr>
                        <a:t>Таблица</a:t>
                      </a:r>
                      <a:endParaRPr b="1"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D1D1F"/>
                          </a:solidFill>
                        </a:rPr>
                        <a:t>Назначение</a:t>
                      </a:r>
                      <a:endParaRPr b="1"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Room_Types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Справочник категорий номеров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Rooms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Информация о конкретных комнатах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Guests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Персональные данные клиентов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Bookings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Бронирования 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Payments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Финансовые транзакции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Программные объекты БД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1082575" y="2007250"/>
            <a:ext cx="9768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— View_ActiveBookings (активные бронирования)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— Func_CalculateBookingPrice (расчет стоимости)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Procedure — Proc_CheckInGuest (регистрация заезда)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 — trg_before_booking_insert (проверка дат)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— обработка платежа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Ролевая модель доступа</a:t>
            </a:r>
            <a:endParaRPr/>
          </a:p>
        </p:txBody>
      </p:sp>
      <p:graphicFrame>
        <p:nvGraphicFramePr>
          <p:cNvPr id="142" name="Google Shape;142;p20"/>
          <p:cNvGraphicFramePr/>
          <p:nvPr/>
        </p:nvGraphicFramePr>
        <p:xfrm>
          <a:off x="95250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{740BC1DF-B900-458F-826B-DC5BABEE5A77}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D1D1F"/>
                          </a:solidFill>
                        </a:rPr>
                        <a:t>Роль</a:t>
                      </a:r>
                      <a:endParaRPr b="1"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D1D1F"/>
                          </a:solidFill>
                        </a:rPr>
                        <a:t>Права доступа</a:t>
                      </a:r>
                      <a:endParaRPr b="1"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hotel_admin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Полный доступ ко всем таблицам и объектам БД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hotel_receptionist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D1D1F"/>
                          </a:solidFill>
                        </a:rPr>
                        <a:t>SELECT (все справочники), INSERT/UPDATE (Bookings, Payments)</a:t>
                      </a:r>
                      <a:endParaRPr sz="1700">
                        <a:solidFill>
                          <a:srgbClr val="1D1D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1082566" y="75539"/>
            <a:ext cx="107284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/>
              <a:t>Типовые запросы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1082575" y="1794250"/>
            <a:ext cx="8871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свободных номеров на даты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Выгрузка информации о госте по паспорту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Отчет по выручке за месяц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Список выезжающих сегодня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Загрузка отеля по типам номеров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871316" y="75539"/>
            <a:ext cx="10728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/>
              <a:t>Заключение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1082584" y="1695749"/>
            <a:ext cx="10443300" cy="4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Разработанная БД готова к интеграции с веб-сайтом отеля</a:t>
            </a:r>
            <a:endParaRPr sz="28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Обеспечена высокая скорость выборки данных</a:t>
            </a:r>
            <a:endParaRPr sz="28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Гарантирована безопасность и целостность информации</a:t>
            </a:r>
            <a:endParaRPr sz="28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Исключены аномалии обновления данных</a:t>
            </a:r>
            <a:endParaRPr sz="28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1082566" y="75539"/>
            <a:ext cx="1072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Ссылка на репозиторий</a:t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575" y="1248850"/>
            <a:ext cx="3874700" cy="36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1012800" y="3858000"/>
            <a:ext cx="4529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https://github.com/Kolpakch0k/kurs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1750200" y="2372400"/>
            <a:ext cx="86916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8491"/>
              <a:buFont typeface="Calibri"/>
              <a:buNone/>
            </a:pPr>
            <a:r>
              <a:rPr lang="en-US" sz="10600"/>
              <a:t>СПАСИБО ЗА </a:t>
            </a:r>
            <a:r>
              <a:rPr lang="en-US" sz="10600"/>
              <a:t>ВНИМАНИЕ</a:t>
            </a:r>
            <a:endParaRPr sz="5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иний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